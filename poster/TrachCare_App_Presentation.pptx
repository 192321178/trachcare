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0F766E"/>
          </a:solidFill>
          <a:ln w="254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9875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TrachCare — Tracheostomy Home Care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188720"/>
            <a:ext cx="8778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CCFBF1"/>
                </a:solidFill>
                <a:latin typeface="Segoe UI"/>
              </a:rPr>
              <a:t>A Flutter mobile application that guides discharged tracheostomy patients through daily care — structured vitals reports, a timed spigotting schedule, therapy videos and a doctor review console.</a:t>
            </a:r>
          </a:p>
        </p:txBody>
      </p:sp>
      <p:pic>
        <p:nvPicPr>
          <p:cNvPr id="7" name="Picture 6" descr="student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20040"/>
            <a:ext cx="1470932" cy="2103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360152" y="301752"/>
            <a:ext cx="1481328" cy="2139696"/>
          </a:xfrm>
          <a:prstGeom prst="rect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65836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75569"/>
                </a:solidFill>
                <a:latin typeface="Segoe UI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6217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5E59"/>
                </a:solidFill>
                <a:latin typeface="Segoe UI"/>
              </a:rPr>
              <a:t>Santhosh 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F172A"/>
                </a:solidFill>
                <a:latin typeface="Segoe UI"/>
              </a:rPr>
              <a:t>Reg. No.  192321178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santhoshl1178.sse@saveetha.com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Department:  </a:t>
            </a:r>
            <a:r>
              <a:rPr sz="1400" b="0">
                <a:solidFill>
                  <a:srgbClr val="0F172A"/>
                </a:solidFill>
                <a:latin typeface="Segoe UI"/>
              </a:rPr>
              <a:t>BTech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Timeline:  </a:t>
            </a:r>
            <a:r>
              <a:rPr sz="1400" b="0">
                <a:solidFill>
                  <a:srgbClr val="0F172A"/>
                </a:solidFill>
                <a:latin typeface="Segoe UI"/>
              </a:rPr>
              <a:t>03 Months — 25th Oct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108960"/>
            <a:ext cx="416052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2918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75569"/>
                </a:solidFill>
                <a:latin typeface="Segoe UI"/>
              </a:rPr>
              <a:t>Scan to connect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3657600"/>
            <a:ext cx="17373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qr_linkedin_santho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703320"/>
            <a:ext cx="1645920" cy="1645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92640" y="3703320"/>
            <a:ext cx="18288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LinkedIn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Segoe UI"/>
              </a:rPr>
              <a:t>Scan the QR code to view my 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5577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15E59"/>
                </a:solidFill>
                <a:latin typeface="Segoe UI"/>
              </a:rPr>
              <a:t>Patient · Doctor · Admin — one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CFBF1"/>
                </a:solidFill>
                <a:latin typeface="Segoe U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TrachCare | Virtusa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21945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33272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0F172A"/>
                </a:solidFill>
                <a:latin typeface="Segoe UI"/>
              </a:rPr>
              <a:t>Ravi, a post-operative tracheostomy patient recovering at home, </a:t>
            </a:r>
            <a:r>
              <a:rPr sz="2000" b="1">
                <a:solidFill>
                  <a:srgbClr val="115E59"/>
                </a:solidFill>
                <a:latin typeface="Segoe UI"/>
              </a:rPr>
              <a:t>needs a structured way to record daily tube care, vitals and spigotting progress </a:t>
            </a:r>
            <a:r>
              <a:rPr sz="2000" b="0">
                <a:solidFill>
                  <a:srgbClr val="0F172A"/>
                </a:solidFill>
                <a:latin typeface="Segoe UI"/>
              </a:rPr>
              <a:t>because today his follow-up depends on phone calls and memory — and his doctor cannot see deterioration between visits.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607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0F766E"/>
                </a:solidFill>
                <a:latin typeface="Segoe UI"/>
              </a:rPr>
              <a:t>• </a:t>
            </a:r>
            <a:r>
              <a:rPr sz="1400" b="0">
                <a:solidFill>
                  <a:srgbClr val="0F172A"/>
                </a:solidFill>
                <a:latin typeface="Segoe UI"/>
              </a:rPr>
              <a:t>Daily care reported informally over calls or chat — clinical detail is lost.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0F766E"/>
                </a:solidFill>
                <a:latin typeface="Segoe UI"/>
              </a:rPr>
              <a:t>• </a:t>
            </a:r>
            <a:r>
              <a:rPr sz="1400" b="0">
                <a:solidFill>
                  <a:srgbClr val="0F172A"/>
                </a:solidFill>
                <a:latin typeface="Segoe UI"/>
              </a:rPr>
              <a:t>No day-by-day record: missed dressing changes or failed spigotting attempts surface only at the next visit.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0F766E"/>
                </a:solidFill>
                <a:latin typeface="Segoe UI"/>
              </a:rPr>
              <a:t>• </a:t>
            </a:r>
            <a:r>
              <a:rPr sz="1400" b="0">
                <a:solidFill>
                  <a:srgbClr val="0F172A"/>
                </a:solidFill>
                <a:latin typeface="Segoe UI"/>
              </a:rPr>
              <a:t>Doctors cannot track weaning progress remotely; patients have no guided routine at home.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Project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CFBF1"/>
                </a:solidFill>
                <a:latin typeface="Segoe U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TrachCare | Virtusa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46304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15E59"/>
                </a:solidFill>
                <a:latin typeface="Segoe UI"/>
              </a:rPr>
              <a:t>September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6304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15E59"/>
                </a:solidFill>
                <a:latin typeface="Segoe UI"/>
              </a:rPr>
              <a:t>October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46304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15E59"/>
                </a:solidFill>
                <a:latin typeface="Segoe UI"/>
              </a:rPr>
              <a:t>November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19" y="146304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15E59"/>
                </a:solidFill>
                <a:latin typeface="Segoe UI"/>
              </a:rPr>
              <a:t>December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46304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15E59"/>
                </a:solidFill>
                <a:latin typeface="Segoe UI"/>
              </a:rPr>
              <a:t>January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3911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Concept dev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1965960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965960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1965960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19" y="1965960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0" y="1965960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77440" y="1965960"/>
            <a:ext cx="1664207" cy="420623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60604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Research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2532888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2532888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0" y="2532888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19" y="2532888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0" y="2532888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377440" y="2532888"/>
            <a:ext cx="1664207" cy="420623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17296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Frontend dev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3099816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3099816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52160" y="3099816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89519" y="3099816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26880" y="3099816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114800" y="3099816"/>
            <a:ext cx="1664207" cy="420623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739896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Backend dev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3666744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0" y="3666744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52160" y="3666744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89519" y="3666744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26880" y="3666744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852160" y="3666744"/>
            <a:ext cx="1664207" cy="420623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306824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Database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4233672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4233672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52160" y="4233672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89519" y="4233672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26880" y="4233672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852160" y="4233672"/>
            <a:ext cx="1664207" cy="420623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873752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Redesign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4800600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0" y="4800600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52160" y="4800600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589519" y="4800600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26880" y="4800600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589519" y="4800600"/>
            <a:ext cx="1664207" cy="420623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544068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Launch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77440" y="5367528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0" y="5367528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852160" y="5367528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589519" y="5367528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6880" y="5367528"/>
            <a:ext cx="1664207" cy="42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326880" y="5367528"/>
            <a:ext cx="1664207" cy="420623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Segoe UI"/>
              </a:rPr>
              <a:t>15-week plan: analysis → design → Flutter build → PHP/MySQL backend → hardening →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Competitive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CFBF1"/>
                </a:solidFill>
                <a:latin typeface="Segoe UI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TrachCare | Virtusa Project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783080"/>
                <a:gridCol w="1783080"/>
                <a:gridCol w="1783080"/>
                <a:gridCol w="1783080"/>
              </a:tblGrid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Criteria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TrachCare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Generic telehealth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WhatsApp / phone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Physical review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Segoe UI"/>
                        </a:rPr>
                        <a:t>Tracheostomy-specific 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Segoe UI"/>
                        </a:rPr>
                        <a:t>Structured daily vitals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At visit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Segoe UI"/>
                        </a:rPr>
                        <a:t>Spigotting session 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Segoe UI"/>
                        </a:rPr>
                        <a:t>Guided exercise videos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Rarely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Ad hoc links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Verbal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Segoe UI"/>
                        </a:rPr>
                        <a:t>Calendar of daily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Segoe UI"/>
                        </a:rPr>
                        <a:t>PDF export of patient record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File copies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34340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5312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Gap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5029200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Segoe UI"/>
              </a:rPr>
              <a:t>• </a:t>
            </a:r>
            <a:r>
              <a:rPr sz="1200" b="0">
                <a:solidFill>
                  <a:srgbClr val="0F172A"/>
                </a:solidFill>
                <a:latin typeface="Segoe UI"/>
              </a:rPr>
              <a:t>No structured daily record of home care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Segoe UI"/>
              </a:rPr>
              <a:t>• </a:t>
            </a:r>
            <a:r>
              <a:rPr sz="1200" b="0">
                <a:solidFill>
                  <a:srgbClr val="0F172A"/>
                </a:solidFill>
                <a:latin typeface="Segoe UI"/>
              </a:rPr>
              <a:t>Spigotting / weaning progress untracked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Segoe UI"/>
              </a:rPr>
              <a:t>• </a:t>
            </a:r>
            <a:r>
              <a:rPr sz="1200" b="0">
                <a:solidFill>
                  <a:srgbClr val="0F172A"/>
                </a:solidFill>
                <a:latin typeface="Segoe UI"/>
              </a:rPr>
              <a:t>No shared record between patient, doctor and admin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Segoe UI"/>
              </a:rPr>
              <a:t>• </a:t>
            </a:r>
            <a:r>
              <a:rPr sz="1200" b="0">
                <a:solidFill>
                  <a:srgbClr val="0F172A"/>
                </a:solidFill>
                <a:latin typeface="Segoe UI"/>
              </a:rPr>
              <a:t>No audit trail of reported care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43400"/>
            <a:ext cx="53492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453128"/>
            <a:ext cx="49834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Our Uniqueness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800600"/>
            <a:ext cx="498347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Segoe UI"/>
              </a:rPr>
              <a:t>• </a:t>
            </a:r>
            <a:r>
              <a:rPr sz="1200" b="0">
                <a:solidFill>
                  <a:srgbClr val="0F172A"/>
                </a:solidFill>
                <a:latin typeface="Segoe UI"/>
              </a:rPr>
              <a:t>Complete tracheostomy home-care tracking in one app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Segoe UI"/>
              </a:rPr>
              <a:t>• </a:t>
            </a:r>
            <a:r>
              <a:rPr sz="1200" b="0">
                <a:solidFill>
                  <a:srgbClr val="0F172A"/>
                </a:solidFill>
                <a:latin typeface="Segoe UI"/>
              </a:rPr>
              <a:t>Role-based access for Patient, Doctor and Admin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Segoe UI"/>
              </a:rPr>
              <a:t>• </a:t>
            </a:r>
            <a:r>
              <a:rPr sz="1200" b="0">
                <a:solidFill>
                  <a:srgbClr val="0F172A"/>
                </a:solidFill>
                <a:latin typeface="Segoe UI"/>
              </a:rPr>
              <a:t>Daily reports, timed spigotting, videos and PDF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User Persona : Ravi (Patient)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CFBF1"/>
                </a:solidFill>
                <a:latin typeface="Segoe U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TrachCare | Virtusa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15E59"/>
                </a:solidFill>
                <a:latin typeface="Segoe UI"/>
              </a:rPr>
              <a:t>“I want my daily tube care recorded properly without a hospital visit every week.”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737360"/>
            <a:ext cx="914400" cy="9144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75569"/>
                </a:solidFill>
                <a:latin typeface="Segoe UI"/>
              </a:rPr>
              <a:t>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9067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75569"/>
                </a:solidFill>
                <a:latin typeface="Segoe UI"/>
              </a:rPr>
              <a:t>OCCUPATION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7647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Retired clerk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75569"/>
                </a:solidFill>
                <a:latin typeface="Segoe UI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6227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Married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75569"/>
                </a:solidFill>
                <a:latin typeface="Segoe UI"/>
              </a:rPr>
              <a:t>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4807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Chennai, India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1737360"/>
            <a:ext cx="429768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184708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Goals &amp; Needs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194560"/>
            <a:ext cx="3931920" cy="3657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Follow daily tracheostomy care steps correctly</a:t>
            </a:r>
          </a:p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Record vitals and tube-care tasks without paperwork</a:t>
            </a:r>
          </a:p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Track spigotting (weaning) progress day by day</a:t>
            </a:r>
          </a:p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Learn correct care from guided exercise videos</a:t>
            </a:r>
          </a:p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Stay connected to the treating doctor between visits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737360"/>
            <a:ext cx="41148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59" y="184708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Frustrations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2194560"/>
            <a:ext cx="3749039" cy="3657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B45E09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Unsure which readings matter and how often to record</a:t>
            </a:r>
          </a:p>
          <a:p>
            <a:pPr algn="l">
              <a:lnSpc>
                <a:spcPct val="118000"/>
              </a:lnSpc>
            </a:pPr>
            <a:r>
              <a:rPr sz="1250" b="1">
                <a:solidFill>
                  <a:srgbClr val="B45E09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Forgets care steps and session timings</a:t>
            </a:r>
          </a:p>
          <a:p>
            <a:pPr algn="l">
              <a:lnSpc>
                <a:spcPct val="118000"/>
              </a:lnSpc>
            </a:pPr>
            <a:r>
              <a:rPr sz="1250" b="1">
                <a:solidFill>
                  <a:srgbClr val="B45E09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Cannot reach the doctor quickly when worried</a:t>
            </a:r>
          </a:p>
          <a:p>
            <a:pPr algn="l">
              <a:lnSpc>
                <a:spcPct val="118000"/>
              </a:lnSpc>
            </a:pPr>
            <a:r>
              <a:rPr sz="1250" b="1">
                <a:solidFill>
                  <a:srgbClr val="B45E09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No feedback on whether readings are normal</a:t>
            </a:r>
          </a:p>
          <a:p>
            <a:pPr algn="l">
              <a:lnSpc>
                <a:spcPct val="118000"/>
              </a:lnSpc>
            </a:pPr>
            <a:r>
              <a:rPr sz="1250" b="1">
                <a:solidFill>
                  <a:srgbClr val="B45E09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Paper diary entries are lost or incomplete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User Persona : Dr. Meera (Doctor)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CFBF1"/>
                </a:solidFill>
                <a:latin typeface="Segoe U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TrachCare | Virtusa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15E59"/>
                </a:solidFill>
                <a:latin typeface="Segoe UI"/>
              </a:rPr>
              <a:t>“I need to see each patient’s daily progress at a glance, not reconstruct it from phone calls.”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737360"/>
            <a:ext cx="914400" cy="914400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75569"/>
                </a:solidFill>
                <a:latin typeface="Segoe UI"/>
              </a:rPr>
              <a:t>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9067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75569"/>
                </a:solidFill>
                <a:latin typeface="Segoe UI"/>
              </a:rPr>
              <a:t>OCCUPATION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7647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ENT surgeon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75569"/>
                </a:solidFill>
                <a:latin typeface="Segoe UI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6227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Married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75569"/>
                </a:solidFill>
                <a:latin typeface="Segoe UI"/>
              </a:rPr>
              <a:t>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4807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Chennai, India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1737360"/>
            <a:ext cx="429768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184708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Goals &amp; Needs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194560"/>
            <a:ext cx="3931920" cy="3657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Register discharged patients with full clinical baseline</a:t>
            </a:r>
          </a:p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Review each patient’s daily report by date on a calendar</a:t>
            </a:r>
          </a:p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See who submitted today’s update at a glance</a:t>
            </a:r>
          </a:p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Track spigotting session completion remotely</a:t>
            </a:r>
          </a:p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Export a complete patient record as PDF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737360"/>
            <a:ext cx="41148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59" y="184708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Frustrations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2194560"/>
            <a:ext cx="3749039" cy="3657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B45E09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Verbal phone updates lose clinical detail</a:t>
            </a:r>
          </a:p>
          <a:p>
            <a:pPr algn="l">
              <a:lnSpc>
                <a:spcPct val="118000"/>
              </a:lnSpc>
            </a:pPr>
            <a:r>
              <a:rPr sz="1250" b="1">
                <a:solidFill>
                  <a:srgbClr val="B45E09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No comparable day-by-day history between visits</a:t>
            </a:r>
          </a:p>
          <a:p>
            <a:pPr algn="l">
              <a:lnSpc>
                <a:spcPct val="118000"/>
              </a:lnSpc>
            </a:pPr>
            <a:r>
              <a:rPr sz="1250" b="1">
                <a:solidFill>
                  <a:srgbClr val="B45E09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Worsening vitals trends are invisible until urgent</a:t>
            </a:r>
          </a:p>
          <a:p>
            <a:pPr algn="l">
              <a:lnSpc>
                <a:spcPct val="118000"/>
              </a:lnSpc>
            </a:pPr>
            <a:r>
              <a:rPr sz="1250" b="1">
                <a:solidFill>
                  <a:srgbClr val="B45E09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Managing many home-care patients by memory</a:t>
            </a:r>
          </a:p>
          <a:p>
            <a:pPr algn="l">
              <a:lnSpc>
                <a:spcPct val="118000"/>
              </a:lnSpc>
            </a:pPr>
            <a:r>
              <a:rPr sz="1250" b="1">
                <a:solidFill>
                  <a:srgbClr val="B45E09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No printable record for the patient 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Empathy 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CFBF1"/>
                </a:solidFill>
                <a:latin typeface="Segoe U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TrachCare | Virtusa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49240" cy="21945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4937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“It is easy to log my daily care now”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“My records feel secure”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“The videos show me exactly what to do”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3492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8132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4937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Submits a daily vitals + care-task form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Follows the timed spigotting sessions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Watches therapy videos and checks the calendar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53492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0448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THINKS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4937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Is my breathing-hold time improving?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Did the doctor see today’s report?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Am I doing the dressing correctly?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94760"/>
            <a:ext cx="5349240" cy="21945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0448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FEELS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297680"/>
            <a:ext cx="4937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Reassured — doctor watches progress daily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Confident — guided routine at home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766E"/>
                </a:solidFill>
                <a:latin typeface="Segoe UI"/>
              </a:rPr>
              <a:t>• </a:t>
            </a:r>
            <a:r>
              <a:rPr sz="1250" b="0">
                <a:solidFill>
                  <a:srgbClr val="0F172A"/>
                </a:solidFill>
                <a:latin typeface="Segoe UI"/>
              </a:rPr>
              <a:t>Motivated — visible day-by-day 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6172200"/>
            <a:ext cx="676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Segoe UI"/>
              </a:rPr>
              <a:t>Users: patient · caregiver · doctor · admin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CFBF1"/>
                </a:solidFill>
                <a:latin typeface="Segoe U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TrachCare | Virtusa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828800"/>
            <a:ext cx="685800" cy="6858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Daily care is complex and paper diaries are incomplete, so clinically important details are lost.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1828800"/>
            <a:ext cx="685800" cy="6858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8892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Spigotting weaning sessions are easy to forget and impossible to review without a timed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66760" y="1828800"/>
            <a:ext cx="685800" cy="6858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8892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Doctors cannot see patient progress between visits — a worsening trend stays invisible until it becomes an emergency.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035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15E59"/>
                </a:solidFill>
                <a:latin typeface="Segoe UI"/>
              </a:rPr>
              <a:t>TrachCare turns daily tracheostomy care into structured digital reports with a timed schedule and a doctor review console.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Storyboard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CFBF1"/>
                </a:solidFill>
                <a:latin typeface="Segoe U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TrachCare | Virtusa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103120" cy="26517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737360"/>
            <a:ext cx="502920" cy="502920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Discharge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F172A"/>
                </a:solidFill>
                <a:latin typeface="Segoe UI"/>
              </a:rPr>
              <a:t>Doctor registers the patient with baseline clinical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6517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554480"/>
            <a:ext cx="210312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71800" y="1737360"/>
            <a:ext cx="502920" cy="502920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3774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Daily 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78892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F172A"/>
                </a:solidFill>
                <a:latin typeface="Segoe UI"/>
              </a:rPr>
              <a:t>Patient logs vitals and care tasks in a guided 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6517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554480"/>
            <a:ext cx="2103120" cy="26517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57800" y="1737360"/>
            <a:ext cx="502920" cy="502920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3774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Spigotting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78892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F172A"/>
                </a:solidFill>
                <a:latin typeface="Segoe UI"/>
              </a:rPr>
              <a:t>Timed sessions tracked through the day on the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26517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1554480"/>
            <a:ext cx="210312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43800" y="1737360"/>
            <a:ext cx="502920" cy="502920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3774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78892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F172A"/>
                </a:solidFill>
                <a:latin typeface="Segoe UI"/>
              </a:rPr>
              <a:t>Doctor reviews reports on a calendar, flags issues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59" y="26517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766E"/>
                </a:solidFill>
                <a:latin typeface="Segoe U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1554480"/>
            <a:ext cx="2103120" cy="26517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29800" y="1737360"/>
            <a:ext cx="502920" cy="502920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3774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5E59"/>
                </a:solidFill>
                <a:latin typeface="Segoe UI"/>
              </a:rPr>
              <a:t>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78892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F172A"/>
                </a:solidFill>
                <a:latin typeface="Segoe UI"/>
              </a:rPr>
              <a:t>Full patient record exported as PDF for the file</a:t>
            </a:r>
          </a:p>
        </p:txBody>
      </p:sp>
      <p:pic>
        <p:nvPicPr>
          <p:cNvPr id="31" name="Picture 30" descr="fig_7_3_patient_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4572000"/>
            <a:ext cx="840658" cy="1737360"/>
          </a:xfrm>
          <a:prstGeom prst="rect">
            <a:avLst/>
          </a:prstGeom>
        </p:spPr>
      </p:pic>
      <p:pic>
        <p:nvPicPr>
          <p:cNvPr id="32" name="Picture 31" descr="fig_7_5_doctor_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572000"/>
            <a:ext cx="840658" cy="17373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66560" y="4892040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15E59"/>
                </a:solidFill>
                <a:latin typeface="Segoe UI"/>
              </a:rPr>
              <a:t>Patient dashboard</a:t>
            </a:r>
            <a:r>
              <a:rPr sz="1200" b="0">
                <a:solidFill>
                  <a:srgbClr val="0F172A"/>
                </a:solidFill>
                <a:latin typeface="Segoe UI"/>
              </a:rPr>
              <a:t> — daily update, spigotting status, videos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115E59"/>
                </a:solidFill>
                <a:latin typeface="Segoe UI"/>
              </a:rPr>
              <a:t>Doctor monitor</a:t>
            </a:r>
            <a:r>
              <a:rPr sz="1200" b="0">
                <a:solidFill>
                  <a:srgbClr val="0F172A"/>
                </a:solidFill>
                <a:latin typeface="Segoe UI"/>
              </a:rPr>
              <a:t> — today’s updates and patient 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User Journey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CFBF1"/>
                </a:solidFill>
                <a:latin typeface="Segoe U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TrachCare | Virtusa Project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901952"/>
                <a:gridCol w="1901952"/>
                <a:gridCol w="1901952"/>
                <a:gridCol w="1901952"/>
                <a:gridCol w="1901952"/>
              </a:tblGrid>
              <a:tr h="50292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Stage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Awareness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Onboarding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Daily Care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Doctor Review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Recovery</a:t>
                      </a:r>
                    </a:p>
                  </a:txBody>
                  <a:tcPr>
                    <a:solidFill>
                      <a:srgbClr val="115E5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15E59"/>
                          </a:solidFill>
                          <a:latin typeface="Segoe UI"/>
                        </a:rPr>
                        <a:t>Actions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Hears about app at discharge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Doctor registers patient; patient logs in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Submits vitals, care tasks, spigotting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Doctor checks today’s reports on calendar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PDF export; follow-up completed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15E59"/>
                          </a:solidFill>
                          <a:latin typeface="Segoe UI"/>
                        </a:rPr>
                        <a:t>Goals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Understand home-care routine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Get set up quickly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Keep a consistent record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Catch problems early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Evidence of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15E59"/>
                          </a:solidFill>
                          <a:latin typeface="Segoe UI"/>
                        </a:rPr>
                        <a:t>Touchpoints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Hospital counselling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Role login screens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Dashboard, daily form, session chips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Calendar, report detail, alerts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Reports, PDF, visits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15E59"/>
                          </a:solidFill>
                          <a:latin typeface="Segoe UI"/>
                        </a:rPr>
                        <a:t>Feeling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Anxious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Hopeful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Building habit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Reassured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Segoe UI"/>
                        </a:rPr>
                        <a:t>Motivated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Paper Wireframes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CFBF1"/>
                </a:solidFill>
                <a:latin typeface="Segoe U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TrachCare | Virtusa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5_2_wire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554480"/>
            <a:ext cx="6618514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Early sketches of the three role flows — patient daily check-in, doctor review and admin management.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Low Fidelity UI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CFBF1"/>
                </a:solidFill>
                <a:latin typeface="Segoe U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TrachCare | Virtusa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1371600"/>
            <a:ext cx="23317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7_2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08760"/>
            <a:ext cx="1946787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34440" y="562356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Segoe UI"/>
              </a:rPr>
              <a:t>Role login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371600"/>
            <a:ext cx="23317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7_4_daily_up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508760"/>
            <a:ext cx="1946787" cy="402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562356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Segoe UI"/>
              </a:rPr>
              <a:t>Daily update 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71600"/>
            <a:ext cx="23317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_7_6_add_pat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508760"/>
            <a:ext cx="1946787" cy="402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0" y="562356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Segoe UI"/>
              </a:rPr>
              <a:t>Add patient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High Fidelity UI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CFBF1"/>
                </a:solidFill>
                <a:latin typeface="Segoe U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TrachCare | Virtusa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19659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7_1_sp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81328"/>
            <a:ext cx="1836174" cy="3794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48640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475569"/>
                </a:solidFill>
                <a:latin typeface="Segoe UI"/>
              </a:rPr>
              <a:t>Splash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371600"/>
            <a:ext cx="19659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7_3_patient_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481328"/>
            <a:ext cx="1836174" cy="3794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26080" y="548640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475569"/>
                </a:solidFill>
                <a:latin typeface="Segoe UI"/>
              </a:rPr>
              <a:t>Patient home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1371600"/>
            <a:ext cx="19659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_7_5_doctor_da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481328"/>
            <a:ext cx="1836174" cy="3794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66360" y="548640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475569"/>
                </a:solidFill>
                <a:latin typeface="Segoe UI"/>
              </a:rPr>
              <a:t>Doctor monitor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371600"/>
            <a:ext cx="19659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ig_7_7_approv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481328"/>
            <a:ext cx="1836174" cy="3794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06640" y="548640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475569"/>
                </a:solidFill>
                <a:latin typeface="Segoe UI"/>
              </a:rPr>
              <a:t>Approvals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1371600"/>
            <a:ext cx="19659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ig_7_8_vide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1481328"/>
            <a:ext cx="1836174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46920" y="548640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475569"/>
                </a:solidFill>
                <a:latin typeface="Segoe UI"/>
              </a:rPr>
              <a:t>Video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15E59"/>
                </a:solidFill>
                <a:latin typeface="Segoe UI"/>
              </a:rPr>
              <a:t>Teal healthcare theme · shared design system · IBM Plex Sans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Development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CFBF1"/>
                </a:solidFill>
                <a:latin typeface="Segoe U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TrachCare | Virtusa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1920240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FRONT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603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15E59"/>
                </a:solidFill>
                <a:latin typeface="Segoe UI"/>
              </a:rPr>
              <a:t>Flutter (Dart)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08960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F172A"/>
                </a:solidFill>
                <a:latin typeface="Segoe UI"/>
              </a:rPr>
              <a:t>Role-based screens for Patient, Doctor and Admin · one codebase for Android, Windows and web · media_kit video, table_calendar, image_picker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64592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92040" y="1920240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0116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BACK 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5603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15E59"/>
                </a:solidFill>
                <a:latin typeface="Segoe UI"/>
              </a:rPr>
              <a:t>PHP 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108960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F172A"/>
                </a:solidFill>
                <a:latin typeface="Segoe UI"/>
              </a:rPr>
              <a:t>JSON endpoints over HTTPS on Apache · auth/Patient/Doctor/Admin routes · multipart uploads for photos, videos and thumbnails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64592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32520" y="1920240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0116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5603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15E59"/>
                </a:solidFill>
                <a:latin typeface="Segoe UI"/>
              </a:rPr>
              <a:t>MySQL / MariaDB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3108960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F172A"/>
                </a:solidFill>
                <a:latin typeface="Segoe UI"/>
              </a:rPr>
              <a:t>trachcare schema — patients, daily reports, spigotting status, video catalogue · triggers auto-provision login, profile and status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Flutter client → HTTP/JSON → PHP endpoints → MySQL — three-tier design with role-separated APIs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Gestalt's Principles : UXD Design Iterations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CFBF1"/>
                </a:solidFill>
                <a:latin typeface="Segoe U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TrachCare | Virtusa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75569"/>
                </a:solidFill>
                <a:latin typeface="Segoe UI"/>
              </a:rPr>
              <a:t>VERSION 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0F766E"/>
                </a:solidFill>
                <a:latin typeface="Segoe UI"/>
              </a:rPr>
              <a:t>• </a:t>
            </a:r>
            <a:r>
              <a:rPr sz="1300" b="0">
                <a:solidFill>
                  <a:srgbClr val="0F172A"/>
                </a:solidFill>
                <a:latin typeface="Segoe UI"/>
              </a:rPr>
              <a:t>Washed-out pastel green/peach palette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0F766E"/>
                </a:solidFill>
                <a:latin typeface="Segoe UI"/>
              </a:rPr>
              <a:t>• </a:t>
            </a:r>
            <a:r>
              <a:rPr sz="1300" b="0">
                <a:solidFill>
                  <a:srgbClr val="0F172A"/>
                </a:solidFill>
                <a:latin typeface="Segoe UI"/>
              </a:rPr>
              <a:t>Heavy shadows, inconsistent widgets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0F766E"/>
                </a:solidFill>
                <a:latin typeface="Segoe UI"/>
              </a:rPr>
              <a:t>• </a:t>
            </a:r>
            <a:r>
              <a:rPr sz="1300" b="0">
                <a:solidFill>
                  <a:srgbClr val="0F172A"/>
                </a:solidFill>
                <a:latin typeface="Segoe UI"/>
              </a:rPr>
              <a:t>Duplicated name cards and video lists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349240" cy="210312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5E59"/>
                </a:solidFill>
                <a:latin typeface="Segoe UI"/>
              </a:rPr>
              <a:t>VERSION 0.2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0F766E"/>
                </a:solidFill>
                <a:latin typeface="Segoe UI"/>
              </a:rPr>
              <a:t>• </a:t>
            </a:r>
            <a:r>
              <a:rPr sz="1300" b="0">
                <a:solidFill>
                  <a:srgbClr val="0F172A"/>
                </a:solidFill>
                <a:latin typeface="Segoe UI"/>
              </a:rPr>
              <a:t>One teal healthcare theme + shared design system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0F766E"/>
                </a:solidFill>
                <a:latin typeface="Segoe UI"/>
              </a:rPr>
              <a:t>• </a:t>
            </a:r>
            <a:r>
              <a:rPr sz="1300" b="0">
                <a:solidFill>
                  <a:srgbClr val="0F172A"/>
                </a:solidFill>
                <a:latin typeface="Segoe UI"/>
              </a:rPr>
              <a:t>Recognizable icons, clear card-based layout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0F766E"/>
                </a:solidFill>
                <a:latin typeface="Segoe UI"/>
              </a:rPr>
              <a:t>• </a:t>
            </a:r>
            <a:r>
              <a:rPr sz="1300" b="0">
                <a:solidFill>
                  <a:srgbClr val="0F172A"/>
                </a:solidFill>
                <a:latin typeface="Segoe UI"/>
              </a:rPr>
              <a:t>Colour-coded statuses and good visual hierarchy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19456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F766E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60"/>
            <a:ext cx="55321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5E59"/>
                </a:solidFill>
                <a:latin typeface="Segoe UI"/>
              </a:rPr>
              <a:t>Similarity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78808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Segoe UI"/>
              </a:rPr>
              <a:t>Shared AppCard / VideoCard / PatientNameCard widgets keep repeated content visually consistent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94760"/>
            <a:ext cx="55321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8862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5E59"/>
                </a:solidFill>
                <a:latin typeface="Segoe UI"/>
              </a:rPr>
              <a:t>Proximity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178808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Segoe UI"/>
              </a:rPr>
              <a:t>Daily-update fields grouped into Vitals / Daily care / Spigotting cards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29200"/>
            <a:ext cx="55321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5E59"/>
                </a:solidFill>
                <a:latin typeface="Segoe UI"/>
              </a:rPr>
              <a:t>Common region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13248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Segoe UI"/>
              </a:rPr>
              <a:t>Status chips and story rings group related patient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5029200"/>
            <a:ext cx="55321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1206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15E59"/>
                </a:solidFill>
                <a:latin typeface="Segoe UI"/>
              </a:rPr>
              <a:t>Figure-ground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413248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Segoe UI"/>
              </a:rPr>
              <a:t>Gradient headers separate identity from content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Nielsen's Heuristic Principles : Iterations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CFBF1"/>
                </a:solidFill>
                <a:latin typeface="Segoe U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TrachCare | Virtusa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5E59"/>
                </a:solidFill>
                <a:latin typeface="Segoe UI"/>
              </a:rPr>
              <a:t>Visibility of system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Segoe UI"/>
              </a:rPr>
              <a:t>Spigotting session chips show done / current / locked states with colour coding.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8132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5E59"/>
                </a:solidFill>
                <a:latin typeface="Segoe UI"/>
              </a:rPr>
              <a:t>Match with the real world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Segoe UI"/>
              </a:rPr>
              <a:t>Care tasks use clinical wording (dressing, tie change, suctioning) with Yes/No chips.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7180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8152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5E59"/>
                </a:solidFill>
                <a:latin typeface="Segoe UI"/>
              </a:rPr>
              <a:t>User control &amp; freedom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Segoe UI"/>
              </a:rPr>
              <a:t>Edit profile, back navigation and explicit dialogs on every destructive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97180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08152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5E59"/>
                </a:solidFill>
                <a:latin typeface="Segoe UI"/>
              </a:rPr>
              <a:t>Error prevention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42900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Segoe UI"/>
              </a:rPr>
              <a:t>Required vitals validated before submit; sessions unlock only in time order.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7200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8172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5E59"/>
                </a:solidFill>
                <a:latin typeface="Segoe UI"/>
              </a:rPr>
              <a:t>Recognition over 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Segoe UI"/>
              </a:rPr>
              <a:t>Dashboard shows next appointment, today’s sessions and last report without searching.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572000"/>
            <a:ext cx="5532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5E59"/>
                </a:solidFill>
                <a:latin typeface="Segoe UI"/>
              </a:rPr>
              <a:t>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02920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Segoe UI"/>
              </a:rPr>
              <a:t>Toasts, upload progress and empty states confirm every action.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CFBF1"/>
                </a:solidFill>
                <a:latin typeface="Segoe UI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TrachCare | Virtusa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6_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737360"/>
            <a:ext cx="746760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Three-tier design: Flutter app → PHP REST API (JSON over HTTPS) → MySQL "trachcare" schema with provisioning triggers.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WCAG — Accessibility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CFBF1"/>
                </a:solidFill>
                <a:latin typeface="Segoe UI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TrachCare | Virtusa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37360"/>
            <a:ext cx="9418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F172A"/>
                </a:solidFill>
                <a:latin typeface="Segoe UI"/>
              </a:rPr>
              <a:t>Simple, clear layouts with readable contrast and the teal theme make the app easy for all users to understand.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337560"/>
            <a:ext cx="685800" cy="6858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91839"/>
            <a:ext cx="9418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F172A"/>
                </a:solidFill>
                <a:latin typeface="Segoe UI"/>
              </a:rPr>
              <a:t>Large touch targets (≥48 dp), readable text and Yes/No chips let elderly patients log daily care with few taps.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892040"/>
            <a:ext cx="685800" cy="6858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846320"/>
            <a:ext cx="9418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F172A"/>
                </a:solidFill>
                <a:latin typeface="Segoe UI"/>
              </a:rPr>
              <a:t>Guided exercise videos, clear labels and status feedback support caregivers with limited clinical or digital experience.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CFBF1"/>
                </a:solidFill>
                <a:latin typeface="Segoe U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TrachCare | Virtusa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15E59"/>
                </a:solidFill>
                <a:latin typeface="Segoe UI"/>
              </a:rPr>
              <a:t>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9377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TrachCare gives discharged tracheostomy patients a guided daily routine and gives doctors a structured record between visits.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It replaces informal phone-call follow-up with an auditable, day-by-day clinical history.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The same role-based pattern extends to other post-surgical home-care pathways.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34924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15E59"/>
                </a:solidFill>
                <a:latin typeface="Segoe UI"/>
              </a:rPr>
              <a:t>What I 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9377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A shared design system keeps ~40 role screens consistent and fast to iterate.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Database triggers can safely auto-provision related rows on patient registration.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0F172A"/>
                </a:solidFill>
                <a:latin typeface="Segoe UI"/>
              </a:rPr>
              <a:t>Shipping an MVP early and iterating on feedback beats polishing in isolation.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28600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CCFBF1"/>
                </a:solidFill>
                <a:latin typeface="Segoe UI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75569"/>
                </a:solidFill>
                <a:latin typeface="Segoe UI"/>
              </a:rPr>
              <a:t>TrachCare | Virtusa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828800"/>
            <a:ext cx="685800" cy="685800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15E59"/>
                </a:solidFill>
                <a:latin typeface="Segoe UI"/>
              </a:rPr>
              <a:t>Usability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31089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Run structured walkthroughs with patients, caregivers and the care team; refine the daily form from feedback.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1828800"/>
            <a:ext cx="685800" cy="685800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974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15E59"/>
                </a:solidFill>
                <a:latin typeface="Segoe UI"/>
              </a:rPr>
              <a:t>Clinical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00400"/>
            <a:ext cx="31089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Flag abnormal vitals and escalate missed daily reports to the treating doctor with push notifications.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60" y="1828800"/>
            <a:ext cx="685800" cy="685800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6974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15E59"/>
                </a:solidFill>
                <a:latin typeface="Segoe UI"/>
              </a:rPr>
              <a:t>Smarter 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200400"/>
            <a:ext cx="31089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>Offline-first sync, multi-language support, medication schedules and AI-assisted trend summaries.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Let's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CCFBF1"/>
                </a:solidFill>
                <a:latin typeface="Segoe UI"/>
              </a:rPr>
              <a:t>Thank you for your time reviewing my work. Scan the QR code or reach out to keep in touch.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301752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r_linkedin_santho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80360"/>
            <a:ext cx="2743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521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CFBF1"/>
                </a:solidFill>
                <a:latin typeface="Segoe UI"/>
              </a:rPr>
              <a:t>Scan — LinkedIn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880360"/>
            <a:ext cx="5852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Santhosh L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CCFBF1"/>
                </a:solidFill>
                <a:latin typeface="Segoe UI"/>
              </a:rPr>
              <a:t>Reg. No. 192321178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CCFBF1"/>
                </a:solidFill>
                <a:latin typeface="Segoe UI"/>
              </a:rPr>
              <a:t>santhoshl1178.sse@saveetha.com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FFFFF"/>
                </a:solidFill>
                <a:latin typeface="Segoe UI"/>
              </a:rPr>
              <a:t>BTech IT  ·  TrachCare Project</a:t>
            </a:r>
          </a:p>
        </p:txBody>
      </p:sp>
      <p:pic>
        <p:nvPicPr>
          <p:cNvPr id="9" name="Picture 8" descr="student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377440"/>
            <a:ext cx="2302329" cy="32918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491472" y="2359152"/>
            <a:ext cx="2231136" cy="3328416"/>
          </a:xfrm>
          <a:prstGeom prst="rect">
            <a:avLst/>
          </a:prstGeom>
          <a:noFill/>
          <a:ln w="254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CFBF1"/>
                </a:solidFill>
                <a:latin typeface="Segoe UI"/>
              </a:rPr>
              <a:t>TrachCare | Virtusa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