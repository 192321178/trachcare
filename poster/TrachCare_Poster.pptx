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1764792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384048"/>
            <a:ext cx="640080" cy="64008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115E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TrachCare: A Tracheostomy Care and Monitoring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50392"/>
            <a:ext cx="1645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Guided tracheostomy care at home — connecting patients, doctors and admins on one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17647920" cy="317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99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15E59"/>
                </a:solidFill>
                <a:latin typeface="Segoe UI"/>
              </a:rPr>
              <a:t>TrachCare</a:t>
            </a:r>
            <a:r>
              <a:rPr sz="1250" b="0">
                <a:solidFill>
                  <a:srgbClr val="0F172A"/>
                </a:solidFill>
                <a:latin typeface="Segoe UI"/>
              </a:rPr>
              <a:t> is a tracheostomy self-management app: patients log daily vitals (RR, HR, SpO2, tube and surgery status) from their phone; doctors review every report and see flagged abnormal entries; admins manage accounts and a therapy-video library. Patient, Doctor and Admin roles share one backend.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788920"/>
            <a:ext cx="5760720" cy="571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Competitive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7296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472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MyTherapy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337560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44728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Medisafe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04487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14215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CareClinic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904487"/>
            <a:ext cx="2423160" cy="457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4014215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Patient.info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17136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72A"/>
                </a:solidFill>
                <a:latin typeface="Segoe UI"/>
              </a:rPr>
              <a:t>1. MyTherapy — </a:t>
            </a:r>
            <a:r>
              <a:rPr sz="1200" b="0">
                <a:solidFill>
                  <a:srgbClr val="0F172A"/>
                </a:solidFill>
                <a:latin typeface="Segoe UI"/>
              </a:rPr>
              <a:t>medication reminders and a general diary; no procedure-specific tracking or doctor review loop.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72A"/>
                </a:solidFill>
                <a:latin typeface="Segoe UI"/>
              </a:rPr>
              <a:t>2. Medisafe — </a:t>
            </a:r>
            <a:r>
              <a:rPr sz="1200" b="0">
                <a:solidFill>
                  <a:srgbClr val="0F172A"/>
                </a:solidFill>
                <a:latin typeface="Segoe UI"/>
              </a:rPr>
              <a:t>strong pill reminders, but medication-focused with no clinician monitoring.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72A"/>
                </a:solidFill>
                <a:latin typeface="Segoe UI"/>
              </a:rPr>
              <a:t>3. CareClinic — </a:t>
            </a:r>
            <a:r>
              <a:rPr sz="1200" b="0">
                <a:solidFill>
                  <a:srgbClr val="0F172A"/>
                </a:solidFill>
                <a:latin typeface="Segoe UI"/>
              </a:rPr>
              <a:t>broad symptom and measurement diary; nothing specific to tracheostomy care.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72A"/>
                </a:solidFill>
                <a:latin typeface="Segoe UI"/>
              </a:rPr>
              <a:t>4. Patient.info — </a:t>
            </a:r>
            <a:r>
              <a:rPr sz="1200" b="0">
                <a:solidFill>
                  <a:srgbClr val="0F172A"/>
                </a:solidFill>
                <a:latin typeface="Segoe UI"/>
              </a:rPr>
              <a:t>education content only; no reporting or connection to the care team.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115E59"/>
                </a:solidFill>
                <a:latin typeface="Segoe UI"/>
              </a:rPr>
              <a:t>TrachCare's edge: </a:t>
            </a:r>
            <a:r>
              <a:rPr sz="1250" b="0">
                <a:solidFill>
                  <a:srgbClr val="0F172A"/>
                </a:solidFill>
                <a:latin typeface="Segoe UI"/>
              </a:rPr>
              <a:t>the only app pairing a daily tracheostomy-specific vitals report with a doctor review workflow and a guided therapy-video library — purpose-built for post-surgical home care.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325880"/>
            <a:ext cx="57607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399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0992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801368"/>
            <a:ext cx="5486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766E"/>
                </a:solidFill>
                <a:latin typeface="Segoe UI"/>
              </a:rPr>
              <a:t>• </a:t>
            </a:r>
            <a:r>
              <a:rPr sz="1200" b="1">
                <a:solidFill>
                  <a:srgbClr val="0F172A"/>
                </a:solidFill>
                <a:latin typeface="Segoe UI"/>
              </a:rPr>
              <a:t>Daily health report: </a:t>
            </a:r>
            <a:r>
              <a:rPr sz="1200" b="0">
                <a:solidFill>
                  <a:srgbClr val="0F172A"/>
                </a:solidFill>
                <a:latin typeface="Segoe UI"/>
              </a:rPr>
              <a:t>vitals, tube status, comorbidities and labs.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766E"/>
                </a:solidFill>
                <a:latin typeface="Segoe UI"/>
              </a:rPr>
              <a:t>• </a:t>
            </a:r>
            <a:r>
              <a:rPr sz="1200" b="1">
                <a:solidFill>
                  <a:srgbClr val="0F172A"/>
                </a:solidFill>
                <a:latin typeface="Segoe UI"/>
              </a:rPr>
              <a:t>Doctor monitoring: </a:t>
            </a:r>
            <a:r>
              <a:rPr sz="1200" b="0">
                <a:solidFill>
                  <a:srgbClr val="0F172A"/>
                </a:solidFill>
                <a:latin typeface="Segoe UI"/>
              </a:rPr>
              <a:t>patient list, report review, flagged alerts.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766E"/>
                </a:solidFill>
                <a:latin typeface="Segoe UI"/>
              </a:rPr>
              <a:t>• </a:t>
            </a:r>
            <a:r>
              <a:rPr sz="1200" b="1">
                <a:solidFill>
                  <a:srgbClr val="0F172A"/>
                </a:solidFill>
                <a:latin typeface="Segoe UI"/>
              </a:rPr>
              <a:t>Secure onboarding: </a:t>
            </a:r>
            <a:r>
              <a:rPr sz="1200" b="0">
                <a:solidFill>
                  <a:srgbClr val="0F172A"/>
                </a:solidFill>
                <a:latin typeface="Segoe UI"/>
              </a:rPr>
              <a:t>role login, OTP email verification, admin approval.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766E"/>
                </a:solidFill>
                <a:latin typeface="Segoe UI"/>
              </a:rPr>
              <a:t>• </a:t>
            </a:r>
            <a:r>
              <a:rPr sz="1200" b="1">
                <a:solidFill>
                  <a:srgbClr val="0F172A"/>
                </a:solidFill>
                <a:latin typeface="Segoe UI"/>
              </a:rPr>
              <a:t>Education library: </a:t>
            </a:r>
            <a:r>
              <a:rPr sz="1200" b="0">
                <a:solidFill>
                  <a:srgbClr val="0F172A"/>
                </a:solidFill>
                <a:latin typeface="Segoe UI"/>
              </a:rPr>
              <a:t>admin-published therapy videos streamed in-app.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766E"/>
                </a:solidFill>
                <a:latin typeface="Segoe UI"/>
              </a:rPr>
              <a:t>• </a:t>
            </a:r>
            <a:r>
              <a:rPr sz="1200" b="1">
                <a:solidFill>
                  <a:srgbClr val="0F172A"/>
                </a:solidFill>
                <a:latin typeface="Segoe UI"/>
              </a:rPr>
              <a:t>Spigotting tracker: </a:t>
            </a:r>
            <a:r>
              <a:rPr sz="1200" b="0">
                <a:solidFill>
                  <a:srgbClr val="0F172A"/>
                </a:solidFill>
                <a:latin typeface="Segoe UI"/>
              </a:rPr>
              <a:t>weaning status visible to patient and doctor.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61188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685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Problem Statement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99592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87368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Discharged tracheostomy patients must perform daily care and watch for warning signs — today tracked on paper. Entries are missed, doctors see patients only at reviews weeks apart, and deterioration is invisible until it becomes an emergency.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074920"/>
            <a:ext cx="5760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148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User Persona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45896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46520" y="5623559"/>
            <a:ext cx="868680" cy="86868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605272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F172A"/>
                </a:solidFill>
                <a:latin typeface="Segoe UI"/>
              </a:rPr>
              <a:t>Name: </a:t>
            </a:r>
            <a:r>
              <a:rPr sz="1200" b="0">
                <a:solidFill>
                  <a:srgbClr val="0F172A"/>
                </a:solidFill>
                <a:latin typeface="Segoe UI"/>
              </a:rPr>
              <a:t>Santhosh</a:t>
            </a:r>
            <a:r>
              <a:rPr sz="1200" b="1">
                <a:solidFill>
                  <a:srgbClr val="0F172A"/>
                </a:solidFill>
                <a:latin typeface="Segoe UI"/>
              </a:rPr>
              <a:t>   Age: </a:t>
            </a:r>
            <a:r>
              <a:rPr sz="1200" b="0">
                <a:solidFill>
                  <a:srgbClr val="0F172A"/>
                </a:solidFill>
                <a:latin typeface="Segoe UI"/>
              </a:rPr>
              <a:t>58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Post-surgical tracheostomy patient recovering at home.</a:t>
            </a: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0F172A"/>
                </a:solidFill>
                <a:latin typeface="Segoe UI"/>
              </a:rPr>
              <a:t>Pain points: </a:t>
            </a:r>
            <a:r>
              <a:rPr sz="1200" b="0">
                <a:solidFill>
                  <a:srgbClr val="0F172A"/>
                </a:solidFill>
                <a:latin typeface="Segoe UI"/>
              </a:rPr>
              <a:t>unsure what to record daily, forgets care steps, cannot reach the doctor quickly, no feedback on readings.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6675120"/>
            <a:ext cx="5760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67482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Solution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705916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7150607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Replaces the paper diary with a guided daily check-in: structured vitals go straight to the treating doctor, abnormal reports are flagged, and training videos keep care correct — closing the gap between hospital and home.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7818120"/>
            <a:ext cx="57607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78912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Business Potential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820216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82936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Hospitals &amp; ENT departments · home-care providers · clinic subscriptions · extends to other post-surgical pathways.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207240" y="1325880"/>
            <a:ext cx="5760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44400" y="1399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User Flow Diagram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400" y="170992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i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0" y="1828800"/>
            <a:ext cx="4331208" cy="132588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2207240" y="3429000"/>
            <a:ext cx="57607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44400" y="35021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Programming Specifications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344400" y="381304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90119" y="393192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Frontend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0" y="39319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Flutter / Dart (Android)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90119" y="417880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Backend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200" y="417880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PHP 8.2 REST API (JSON)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90119" y="4425696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Database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0" y="44256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MariaDB / MySQL "trachcare"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90119" y="4672583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Server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200" y="4672583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Apache — XAMPP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90119" y="4919471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Auth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0" y="4919471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Role login + OTP + approval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90119" y="5166359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Media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0" y="5166359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media_kit video · uploads ≤250 MB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390119" y="5413247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Release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73200" y="5413247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0F172A"/>
                </a:solidFill>
                <a:latin typeface="Segoe UI"/>
              </a:rPr>
              <a:t>Signed APK/AAB · targetSdk 36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207240" y="5897880"/>
            <a:ext cx="57607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344400" y="59710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Project Timeline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344400" y="6281928"/>
            <a:ext cx="54864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0" y="6629400"/>
            <a:ext cx="5212080" cy="1170059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320040" y="8641080"/>
            <a:ext cx="85953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8714232"/>
            <a:ext cx="8321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Paper Wireframes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9025128"/>
            <a:ext cx="832104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fig_5_2_wirefra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125711"/>
            <a:ext cx="2564674" cy="141732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9052560" y="8641080"/>
            <a:ext cx="8915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89720" y="8714232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Low Fidelity Prototype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89720" y="9025128"/>
            <a:ext cx="864108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fig_7_2_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9116567"/>
            <a:ext cx="685800" cy="1417320"/>
          </a:xfrm>
          <a:prstGeom prst="rect">
            <a:avLst/>
          </a:prstGeom>
        </p:spPr>
      </p:pic>
      <p:pic>
        <p:nvPicPr>
          <p:cNvPr id="77" name="Picture 76" descr="fig_7_4_daily_upd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480" y="9116567"/>
            <a:ext cx="685800" cy="1417320"/>
          </a:xfrm>
          <a:prstGeom prst="rect">
            <a:avLst/>
          </a:prstGeom>
        </p:spPr>
      </p:pic>
      <p:pic>
        <p:nvPicPr>
          <p:cNvPr id="78" name="Picture 77" descr="fig_7_6_add_pati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75920" y="9116567"/>
            <a:ext cx="685800" cy="141732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607040" y="10579608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Login  ·  Daily report  ·  Patient chart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" y="10744200"/>
            <a:ext cx="176479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10817352"/>
            <a:ext cx="1737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High Fidelity Prototyping  →  Final Product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11128248"/>
            <a:ext cx="173736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fig_7_1_spla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1219688"/>
            <a:ext cx="663677" cy="1371600"/>
          </a:xfrm>
          <a:prstGeom prst="rect">
            <a:avLst/>
          </a:prstGeom>
        </p:spPr>
      </p:pic>
      <p:pic>
        <p:nvPicPr>
          <p:cNvPr id="84" name="Picture 83" descr="fig_7_3_patient_da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1219688"/>
            <a:ext cx="663677" cy="1371600"/>
          </a:xfrm>
          <a:prstGeom prst="rect">
            <a:avLst/>
          </a:prstGeom>
        </p:spPr>
      </p:pic>
      <p:pic>
        <p:nvPicPr>
          <p:cNvPr id="85" name="Picture 84" descr="fig_7_5_doctor_das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11219688"/>
            <a:ext cx="663677" cy="1371600"/>
          </a:xfrm>
          <a:prstGeom prst="rect">
            <a:avLst/>
          </a:prstGeom>
        </p:spPr>
      </p:pic>
      <p:pic>
        <p:nvPicPr>
          <p:cNvPr id="86" name="Picture 85" descr="fig_7_7_approval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1080" y="11219688"/>
            <a:ext cx="663677" cy="1371600"/>
          </a:xfrm>
          <a:prstGeom prst="rect">
            <a:avLst/>
          </a:prstGeom>
        </p:spPr>
      </p:pic>
      <p:pic>
        <p:nvPicPr>
          <p:cNvPr id="87" name="Picture 86" descr="fig_7_8_video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0" y="11219688"/>
            <a:ext cx="663677" cy="13716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937760" y="12646152"/>
            <a:ext cx="6126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Splash  ·  Patient dashboard  ·  Doctor monitor  ·  Approvals  ·  Video library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0040" y="12755880"/>
            <a:ext cx="17647920" cy="777240"/>
          </a:xfrm>
          <a:prstGeom prst="roundRect">
            <a:avLst>
              <a:gd name="adj" fmla="val 6000"/>
            </a:avLst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12966192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Scan For
Details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737360" y="12792456"/>
            <a:ext cx="704088" cy="704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qr_co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4792" y="12819888"/>
            <a:ext cx="649224" cy="64922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743200" y="12966192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TrachCare — tracheostomy care, guided at home
Patient · Doctor · Admin  |  Flutter + PHP + MySQL</a:t>
            </a:r>
          </a:p>
        </p:txBody>
      </p:sp>
      <p:pic>
        <p:nvPicPr>
          <p:cNvPr id="94" name="Picture 93" descr="student_phot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07840" y="12454128"/>
            <a:ext cx="754652" cy="1078992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2252960" y="12847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Sivanesan</a:t>
            </a:r>
          </a:p>
          <a:p>
            <a:pPr algn="r">
              <a:lnSpc>
                <a:spcPct val="110000"/>
              </a:lnSpc>
            </a:pPr>
            <a:r>
              <a:rPr sz="1150" b="0">
                <a:solidFill>
                  <a:srgbClr val="FFFFFF"/>
                </a:solidFill>
                <a:latin typeface="Segoe UI"/>
              </a:rPr>
              <a:t>IT Department · SIMATS</a:t>
            </a:r>
          </a:p>
          <a:p>
            <a:pPr algn="r">
              <a:lnSpc>
                <a:spcPct val="110000"/>
              </a:lnSpc>
            </a:pPr>
            <a:r>
              <a:rPr sz="1150" b="0">
                <a:solidFill>
                  <a:srgbClr val="FFFFFF"/>
                </a:solidFill>
                <a:latin typeface="Segoe UI"/>
              </a:rPr>
              <a:t>Reg. No. __________ · email@saveetha.com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